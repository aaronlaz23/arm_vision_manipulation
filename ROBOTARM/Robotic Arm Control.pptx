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5B5"/>
    <a:srgbClr val="BF7FA1"/>
    <a:srgbClr val="EBBDAD"/>
    <a:srgbClr val="EAD6E0"/>
    <a:srgbClr val="EDC3B3"/>
    <a:srgbClr val="AE9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5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1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7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4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0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7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1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arra construyendo un castillo de naipes">
            <a:extLst>
              <a:ext uri="{FF2B5EF4-FFF2-40B4-BE49-F238E27FC236}">
                <a16:creationId xmlns:a16="http://schemas.microsoft.com/office/drawing/2014/main" id="{E8F4D2A8-C22C-D8A1-A313-0E770AB021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14" b="44272"/>
          <a:stretch>
            <a:fillRect/>
          </a:stretch>
        </p:blipFill>
        <p:spPr>
          <a:xfrm>
            <a:off x="-1" y="-1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DC2244-8146-F7FF-84F3-449C9FBB2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212" y="1449309"/>
            <a:ext cx="10937574" cy="445681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419" sz="66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Robotic</a:t>
            </a:r>
            <a:r>
              <a:rPr lang="es-419" sz="66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Arm Control </a:t>
            </a:r>
            <a:br>
              <a:rPr lang="es-419" sz="6600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s-419" sz="66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with</a:t>
            </a:r>
            <a:r>
              <a:rPr lang="es-419" sz="66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AI visión</a:t>
            </a:r>
            <a:br>
              <a:rPr lang="es-419" sz="6600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br>
              <a:rPr lang="es-419" sz="6600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s-419" sz="40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By</a:t>
            </a:r>
            <a:r>
              <a:rPr lang="es-419" sz="40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Aaron Lazo</a:t>
            </a:r>
            <a:endParaRPr lang="es-ES" sz="66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ED439F7-98A0-95CE-E9AD-DB5B61BBA289}"/>
              </a:ext>
            </a:extLst>
          </p:cNvPr>
          <p:cNvSpPr txBox="1">
            <a:spLocks/>
          </p:cNvSpPr>
          <p:nvPr/>
        </p:nvSpPr>
        <p:spPr>
          <a:xfrm>
            <a:off x="627201" y="1379639"/>
            <a:ext cx="10937574" cy="4456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s-419" sz="6600" dirty="0" err="1"/>
              <a:t>Robotic</a:t>
            </a:r>
            <a:r>
              <a:rPr lang="es-419" sz="6600" dirty="0"/>
              <a:t> Arm Control </a:t>
            </a:r>
            <a:br>
              <a:rPr lang="es-419" sz="6600" dirty="0"/>
            </a:br>
            <a:r>
              <a:rPr lang="es-419" sz="6600" dirty="0" err="1"/>
              <a:t>with</a:t>
            </a:r>
            <a:r>
              <a:rPr lang="es-419" sz="6600" dirty="0"/>
              <a:t> A</a:t>
            </a:r>
            <a:r>
              <a:rPr lang="es-419" sz="6600" dirty="0">
                <a:solidFill>
                  <a:srgbClr val="AE9084"/>
                </a:solidFill>
              </a:rPr>
              <a:t>I</a:t>
            </a:r>
            <a:r>
              <a:rPr lang="es-419" sz="6600" dirty="0"/>
              <a:t> visión</a:t>
            </a:r>
            <a:br>
              <a:rPr lang="es-419" sz="6600" dirty="0"/>
            </a:br>
            <a:br>
              <a:rPr lang="es-419" sz="6600" dirty="0"/>
            </a:br>
            <a:r>
              <a:rPr lang="es-419" sz="4000" dirty="0" err="1"/>
              <a:t>By</a:t>
            </a:r>
            <a:r>
              <a:rPr lang="es-419" sz="4000" dirty="0"/>
              <a:t>: Aaron Lazo</a:t>
            </a:r>
            <a:endParaRPr lang="es-ES" sz="6600" dirty="0"/>
          </a:p>
        </p:txBody>
      </p:sp>
    </p:spTree>
    <p:extLst>
      <p:ext uri="{BB962C8B-B14F-4D97-AF65-F5344CB8AC3E}">
        <p14:creationId xmlns:p14="http://schemas.microsoft.com/office/powerpoint/2010/main" val="2532491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Garra construyendo un castillo de naipes">
            <a:extLst>
              <a:ext uri="{FF2B5EF4-FFF2-40B4-BE49-F238E27FC236}">
                <a16:creationId xmlns:a16="http://schemas.microsoft.com/office/drawing/2014/main" id="{DBC401D3-A7E4-9F3F-8DB9-DBC79B6D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22" r="1" b="44280"/>
          <a:stretch>
            <a:fillRect/>
          </a:stretch>
        </p:blipFill>
        <p:spPr>
          <a:xfrm>
            <a:off x="3068" y="-2"/>
            <a:ext cx="1218893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D71E64B-9F70-4956-A351-D707CAB0A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DF41068-E655-9A54-31EC-6C44B9AC6991}"/>
              </a:ext>
            </a:extLst>
          </p:cNvPr>
          <p:cNvSpPr txBox="1">
            <a:spLocks/>
          </p:cNvSpPr>
          <p:nvPr/>
        </p:nvSpPr>
        <p:spPr>
          <a:xfrm>
            <a:off x="424325" y="1069935"/>
            <a:ext cx="11340301" cy="53715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Objectives:</a:t>
            </a:r>
            <a:br>
              <a:rPr lang="en-US" sz="6000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br>
              <a:rPr lang="en-US" sz="6000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1- Prove the theoretical concepts of robotics.</a:t>
            </a:r>
            <a:b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2- Develop a structured solution for object manipulation.</a:t>
            </a:r>
            <a:b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3- Analyze the viability of low budget manipulators.</a:t>
            </a:r>
            <a:endParaRPr lang="en-US" sz="60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E0EF18D-3FE6-9969-8638-D2F491A4D3D5}"/>
              </a:ext>
            </a:extLst>
          </p:cNvPr>
          <p:cNvSpPr txBox="1">
            <a:spLocks/>
          </p:cNvSpPr>
          <p:nvPr/>
        </p:nvSpPr>
        <p:spPr>
          <a:xfrm>
            <a:off x="425849" y="1032343"/>
            <a:ext cx="11340301" cy="53715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rgbClr val="FFFFFF"/>
                </a:solidFill>
              </a:rPr>
              <a:t>Objectives:</a:t>
            </a:r>
            <a:br>
              <a:rPr lang="en-US" sz="6000" dirty="0">
                <a:solidFill>
                  <a:srgbClr val="FFFFFF"/>
                </a:solidFill>
              </a:rPr>
            </a:br>
            <a:br>
              <a:rPr lang="en-US" sz="60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1- Prove the theoretical concepts of robotics.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2- Develop a structured solution for object manipulation.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3- Analyze the viability of low budget manipulators.</a:t>
            </a:r>
            <a:endParaRPr lang="en-US"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41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8C8BD-AB5E-7C99-91B5-6F9F11C9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1A56C-E816-18EC-8685-74BB8EE0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3" descr="Garra construyendo un castillo de naipes">
            <a:extLst>
              <a:ext uri="{FF2B5EF4-FFF2-40B4-BE49-F238E27FC236}">
                <a16:creationId xmlns:a16="http://schemas.microsoft.com/office/drawing/2014/main" id="{8DCFEB9F-351A-AB74-5D51-30D430F02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14" b="44272"/>
          <a:stretch>
            <a:fillRect/>
          </a:stretch>
        </p:blipFill>
        <p:spPr>
          <a:xfrm>
            <a:off x="0" y="0"/>
            <a:ext cx="12191979" cy="685799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A10B8B0-765C-D637-D9D8-A4EB3ECC6AA5}"/>
              </a:ext>
            </a:extLst>
          </p:cNvPr>
          <p:cNvSpPr/>
          <p:nvPr/>
        </p:nvSpPr>
        <p:spPr>
          <a:xfrm>
            <a:off x="667512" y="773812"/>
            <a:ext cx="7845117" cy="1161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1E5DD5-B8D1-74A7-76BF-274733C26FCA}"/>
              </a:ext>
            </a:extLst>
          </p:cNvPr>
          <p:cNvSpPr/>
          <p:nvPr/>
        </p:nvSpPr>
        <p:spPr>
          <a:xfrm>
            <a:off x="667512" y="2248262"/>
            <a:ext cx="5029346" cy="1930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0220F5-CA50-9C1E-5FF0-D5816A169C7F}"/>
              </a:ext>
            </a:extLst>
          </p:cNvPr>
          <p:cNvSpPr/>
          <p:nvPr/>
        </p:nvSpPr>
        <p:spPr>
          <a:xfrm>
            <a:off x="515112" y="621412"/>
            <a:ext cx="7845117" cy="1161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B927EB-8CF1-F48E-4A5E-634E9A658964}"/>
              </a:ext>
            </a:extLst>
          </p:cNvPr>
          <p:cNvSpPr/>
          <p:nvPr/>
        </p:nvSpPr>
        <p:spPr>
          <a:xfrm>
            <a:off x="515112" y="2095862"/>
            <a:ext cx="5029346" cy="1930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A89EDA-EA4B-B7B8-AE0E-A6F8B94A6B46}"/>
              </a:ext>
            </a:extLst>
          </p:cNvPr>
          <p:cNvSpPr txBox="1"/>
          <p:nvPr/>
        </p:nvSpPr>
        <p:spPr>
          <a:xfrm>
            <a:off x="470967" y="856398"/>
            <a:ext cx="74313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 err="1"/>
              <a:t>Robotics</a:t>
            </a:r>
            <a:r>
              <a:rPr lang="es-419" sz="4000" b="1" dirty="0"/>
              <a:t> in </a:t>
            </a:r>
            <a:r>
              <a:rPr lang="es-419" sz="4000" b="1" dirty="0" err="1"/>
              <a:t>the</a:t>
            </a:r>
            <a:r>
              <a:rPr lang="es-419" sz="4000" b="1" dirty="0"/>
              <a:t> </a:t>
            </a:r>
            <a:r>
              <a:rPr lang="es-419" sz="4000" b="1" dirty="0" err="1"/>
              <a:t>industry</a:t>
            </a:r>
            <a:endParaRPr lang="es-419" sz="4000" b="1" dirty="0"/>
          </a:p>
          <a:p>
            <a:endParaRPr lang="es-419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 err="1"/>
              <a:t>Complex</a:t>
            </a:r>
            <a:r>
              <a:rPr lang="es-419" sz="4000" b="1" dirty="0"/>
              <a:t> </a:t>
            </a:r>
            <a:r>
              <a:rPr lang="es-419" sz="4000" b="1" dirty="0" err="1"/>
              <a:t>Solutions</a:t>
            </a:r>
            <a:r>
              <a:rPr lang="es-419" sz="4000" b="1" dirty="0"/>
              <a:t>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 err="1"/>
              <a:t>Robust</a:t>
            </a:r>
            <a:endParaRPr lang="es-419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 err="1"/>
              <a:t>Expensive</a:t>
            </a:r>
            <a:endParaRPr lang="es-ES" sz="4000" b="1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E41D63-38CE-AC3E-B65C-78C858798CE8}"/>
              </a:ext>
            </a:extLst>
          </p:cNvPr>
          <p:cNvSpPr/>
          <p:nvPr/>
        </p:nvSpPr>
        <p:spPr>
          <a:xfrm>
            <a:off x="6743637" y="2210781"/>
            <a:ext cx="4855029" cy="1161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302D5E4-D308-BD59-E0AB-9283FAB8A06A}"/>
              </a:ext>
            </a:extLst>
          </p:cNvPr>
          <p:cNvSpPr/>
          <p:nvPr/>
        </p:nvSpPr>
        <p:spPr>
          <a:xfrm>
            <a:off x="6896037" y="2056149"/>
            <a:ext cx="4855029" cy="1161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F6E48F-AAF7-2AA8-9A36-C725FF8806F6}"/>
              </a:ext>
            </a:extLst>
          </p:cNvPr>
          <p:cNvSpPr/>
          <p:nvPr/>
        </p:nvSpPr>
        <p:spPr>
          <a:xfrm>
            <a:off x="6749061" y="3775038"/>
            <a:ext cx="5146883" cy="20606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19701D2-6EBF-AE2D-A026-C5C286988C8C}"/>
              </a:ext>
            </a:extLst>
          </p:cNvPr>
          <p:cNvSpPr/>
          <p:nvPr/>
        </p:nvSpPr>
        <p:spPr>
          <a:xfrm>
            <a:off x="6913797" y="3640709"/>
            <a:ext cx="5029346" cy="1930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30E7B6-B19A-15EF-6F88-777E32A954BF}"/>
              </a:ext>
            </a:extLst>
          </p:cNvPr>
          <p:cNvSpPr txBox="1"/>
          <p:nvPr/>
        </p:nvSpPr>
        <p:spPr>
          <a:xfrm>
            <a:off x="6913797" y="2339311"/>
            <a:ext cx="74313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/>
              <a:t>In Academia</a:t>
            </a:r>
          </a:p>
          <a:p>
            <a:endParaRPr lang="es-419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/>
              <a:t>Open </a:t>
            </a:r>
            <a:r>
              <a:rPr lang="es-419" sz="4000" b="1" dirty="0" err="1"/>
              <a:t>Source</a:t>
            </a:r>
            <a:endParaRPr lang="es-419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 err="1"/>
              <a:t>Simplified</a:t>
            </a:r>
            <a:endParaRPr lang="es-419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4000" b="1" dirty="0"/>
              <a:t>Low-Cost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186543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88D9818-814F-1FD4-CF7D-513B31C12954}"/>
              </a:ext>
            </a:extLst>
          </p:cNvPr>
          <p:cNvSpPr/>
          <p:nvPr/>
        </p:nvSpPr>
        <p:spPr>
          <a:xfrm>
            <a:off x="-164892" y="-254833"/>
            <a:ext cx="12681679" cy="7390151"/>
          </a:xfrm>
          <a:prstGeom prst="rect">
            <a:avLst/>
          </a:prstGeom>
          <a:solidFill>
            <a:srgbClr val="EFC5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Picture 3" descr="Garra construyendo un castillo de naipes">
            <a:extLst>
              <a:ext uri="{FF2B5EF4-FFF2-40B4-BE49-F238E27FC236}">
                <a16:creationId xmlns:a16="http://schemas.microsoft.com/office/drawing/2014/main" id="{4C2B81EB-52E4-205C-7403-C347FB30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26" b="53746"/>
          <a:stretch>
            <a:fillRect/>
          </a:stretch>
        </p:blipFill>
        <p:spPr>
          <a:xfrm rot="5400000">
            <a:off x="5855852" y="-1023085"/>
            <a:ext cx="8727587" cy="452703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806428BC-1F58-9482-007B-DB12E317A52F}"/>
              </a:ext>
            </a:extLst>
          </p:cNvPr>
          <p:cNvSpPr/>
          <p:nvPr/>
        </p:nvSpPr>
        <p:spPr>
          <a:xfrm>
            <a:off x="358958" y="2485507"/>
            <a:ext cx="7450106" cy="3469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30ED4C1-EA0C-FE13-E689-336CFA6D304D}"/>
              </a:ext>
            </a:extLst>
          </p:cNvPr>
          <p:cNvSpPr/>
          <p:nvPr/>
        </p:nvSpPr>
        <p:spPr>
          <a:xfrm>
            <a:off x="375770" y="403966"/>
            <a:ext cx="7450106" cy="154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3AFA38D-6113-461A-42EA-749ECA119E17}"/>
              </a:ext>
            </a:extLst>
          </p:cNvPr>
          <p:cNvSpPr/>
          <p:nvPr/>
        </p:nvSpPr>
        <p:spPr>
          <a:xfrm>
            <a:off x="539647" y="216049"/>
            <a:ext cx="7450106" cy="154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15911B-AB16-C8A1-8837-896EFE95A66C}"/>
              </a:ext>
            </a:extLst>
          </p:cNvPr>
          <p:cNvSpPr/>
          <p:nvPr/>
        </p:nvSpPr>
        <p:spPr>
          <a:xfrm>
            <a:off x="506022" y="2297590"/>
            <a:ext cx="7450106" cy="3469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35D6D7-DC8E-355F-077C-264362E0B830}"/>
              </a:ext>
            </a:extLst>
          </p:cNvPr>
          <p:cNvSpPr txBox="1"/>
          <p:nvPr/>
        </p:nvSpPr>
        <p:spPr>
          <a:xfrm>
            <a:off x="800151" y="709535"/>
            <a:ext cx="91589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/>
              <a:t>How </a:t>
            </a:r>
            <a:r>
              <a:rPr lang="es-419" sz="4000" b="1" dirty="0" err="1"/>
              <a:t>to</a:t>
            </a:r>
            <a:r>
              <a:rPr lang="es-419" sz="4000" b="1" dirty="0"/>
              <a:t> Engineer a Robot?</a:t>
            </a:r>
          </a:p>
          <a:p>
            <a:endParaRPr lang="es-419" sz="4000" b="1" dirty="0"/>
          </a:p>
          <a:p>
            <a:endParaRPr lang="es-419" sz="4000" b="1" dirty="0"/>
          </a:p>
          <a:p>
            <a:r>
              <a:rPr lang="es-419" sz="4000" b="1" dirty="0" err="1"/>
              <a:t>What</a:t>
            </a:r>
            <a:r>
              <a:rPr lang="es-419" sz="4000" b="1" dirty="0"/>
              <a:t> </a:t>
            </a:r>
            <a:r>
              <a:rPr lang="es-419" sz="4000" b="1" dirty="0" err="1"/>
              <a:t>to</a:t>
            </a:r>
            <a:r>
              <a:rPr lang="es-419" sz="4000" b="1" dirty="0"/>
              <a:t> </a:t>
            </a:r>
            <a:r>
              <a:rPr lang="es-419" sz="4000" b="1" dirty="0" err="1"/>
              <a:t>manipulate</a:t>
            </a:r>
            <a:r>
              <a:rPr lang="es-419" sz="4000" b="1" dirty="0"/>
              <a:t>?</a:t>
            </a:r>
          </a:p>
          <a:p>
            <a:r>
              <a:rPr lang="es-419" sz="4000" b="1" dirty="0" err="1"/>
              <a:t>Which</a:t>
            </a:r>
            <a:r>
              <a:rPr lang="es-419" sz="4000" b="1" dirty="0"/>
              <a:t> </a:t>
            </a:r>
            <a:r>
              <a:rPr lang="es-419" sz="4000" b="1" dirty="0" err="1"/>
              <a:t>Theoretical</a:t>
            </a:r>
            <a:r>
              <a:rPr lang="es-419" sz="4000" b="1" dirty="0"/>
              <a:t> </a:t>
            </a:r>
            <a:r>
              <a:rPr lang="es-419" sz="4000" b="1" dirty="0" err="1"/>
              <a:t>Concepts</a:t>
            </a:r>
            <a:r>
              <a:rPr lang="es-419" sz="4000" b="1" dirty="0"/>
              <a:t>?</a:t>
            </a:r>
          </a:p>
          <a:p>
            <a:r>
              <a:rPr lang="es-419" sz="4000" b="1" dirty="0" err="1"/>
              <a:t>What</a:t>
            </a:r>
            <a:r>
              <a:rPr lang="es-419" sz="4000" b="1" dirty="0"/>
              <a:t> </a:t>
            </a:r>
            <a:r>
              <a:rPr lang="es-419" sz="4000" b="1" dirty="0" err="1"/>
              <a:t>materials</a:t>
            </a:r>
            <a:r>
              <a:rPr lang="es-419" sz="4000" b="1" dirty="0"/>
              <a:t>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4EC10CC-7347-3ECE-C653-8D50A9A69A83}"/>
              </a:ext>
            </a:extLst>
          </p:cNvPr>
          <p:cNvSpPr/>
          <p:nvPr/>
        </p:nvSpPr>
        <p:spPr>
          <a:xfrm>
            <a:off x="7387652" y="1090856"/>
            <a:ext cx="602101" cy="65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627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DA69CAC-E13B-0E32-D1C6-CDB118AEAD40}"/>
              </a:ext>
            </a:extLst>
          </p:cNvPr>
          <p:cNvSpPr/>
          <p:nvPr/>
        </p:nvSpPr>
        <p:spPr>
          <a:xfrm>
            <a:off x="-20050" y="-266076"/>
            <a:ext cx="12681679" cy="7390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C2BCAE-D659-56AE-361D-70A33FFB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512064"/>
            <a:ext cx="11155680" cy="1463040"/>
          </a:xfrm>
        </p:spPr>
        <p:txBody>
          <a:bodyPr/>
          <a:lstStyle/>
          <a:p>
            <a:r>
              <a:rPr lang="es-419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What</a:t>
            </a:r>
            <a:r>
              <a:rPr lang="es-419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</a:t>
            </a:r>
            <a:r>
              <a:rPr lang="es-419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manipulate</a:t>
            </a:r>
            <a:r>
              <a:rPr lang="es-419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endParaRPr lang="es-E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9EA83D4-9F62-6DD7-9A70-AE84F2BC4A96}"/>
              </a:ext>
            </a:extLst>
          </p:cNvPr>
          <p:cNvSpPr txBox="1">
            <a:spLocks/>
          </p:cNvSpPr>
          <p:nvPr/>
        </p:nvSpPr>
        <p:spPr>
          <a:xfrm>
            <a:off x="673608" y="27310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Anything</a:t>
            </a:r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SOLID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that</a:t>
            </a:r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can be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gripped</a:t>
            </a:r>
            <a:endParaRPr lang="es-419" sz="3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a planar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Workspace</a:t>
            </a:r>
            <a:endParaRPr lang="es-419" sz="3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a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clear</a:t>
            </a:r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marker</a:t>
            </a:r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</a:t>
            </a:r>
            <a:r>
              <a:rPr lang="es-419" sz="3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sz="3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identify</a:t>
            </a:r>
            <a:endParaRPr lang="es-ES" sz="3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A0D956-F1B6-BCBC-E578-B70AE21DAB8B}"/>
              </a:ext>
            </a:extLst>
          </p:cNvPr>
          <p:cNvSpPr/>
          <p:nvPr/>
        </p:nvSpPr>
        <p:spPr>
          <a:xfrm rot="5400000">
            <a:off x="-7400722" y="101184"/>
            <a:ext cx="14483978" cy="611729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F65AD-5489-4B97-3D8B-F008B0F12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2704815"/>
            <a:ext cx="11155680" cy="3767328"/>
          </a:xfrm>
        </p:spPr>
        <p:txBody>
          <a:bodyPr>
            <a:normAutofit/>
          </a:bodyPr>
          <a:lstStyle/>
          <a:p>
            <a:r>
              <a:rPr lang="es-419" sz="3600" b="1" dirty="0" err="1">
                <a:solidFill>
                  <a:schemeClr val="bg1"/>
                </a:solidFill>
              </a:rPr>
              <a:t>Anything</a:t>
            </a:r>
            <a:r>
              <a:rPr lang="es-419" sz="3600" b="1" dirty="0">
                <a:solidFill>
                  <a:schemeClr val="bg1"/>
                </a:solidFill>
              </a:rPr>
              <a:t> SOLID </a:t>
            </a:r>
            <a:r>
              <a:rPr lang="es-419" sz="3600" b="1" dirty="0" err="1">
                <a:solidFill>
                  <a:schemeClr val="bg1"/>
                </a:solidFill>
              </a:rPr>
              <a:t>that</a:t>
            </a:r>
            <a:r>
              <a:rPr lang="es-419" sz="3600" b="1" dirty="0">
                <a:solidFill>
                  <a:schemeClr val="bg1"/>
                </a:solidFill>
              </a:rPr>
              <a:t> can be </a:t>
            </a:r>
            <a:r>
              <a:rPr lang="es-419" sz="3600" b="1" dirty="0" err="1">
                <a:solidFill>
                  <a:schemeClr val="bg1"/>
                </a:solidFill>
              </a:rPr>
              <a:t>gripped</a:t>
            </a:r>
            <a:endParaRPr lang="es-419" sz="3600" b="1" dirty="0">
              <a:solidFill>
                <a:schemeClr val="bg1"/>
              </a:solidFill>
            </a:endParaRPr>
          </a:p>
          <a:p>
            <a:r>
              <a:rPr lang="es-419" sz="3600" b="1" dirty="0">
                <a:solidFill>
                  <a:schemeClr val="bg1"/>
                </a:solidFill>
              </a:rPr>
              <a:t>In a planar </a:t>
            </a:r>
            <a:r>
              <a:rPr lang="es-419" sz="3600" b="1" dirty="0" err="1">
                <a:solidFill>
                  <a:schemeClr val="bg1"/>
                </a:solidFill>
              </a:rPr>
              <a:t>Workspace</a:t>
            </a:r>
            <a:endParaRPr lang="es-419" sz="3600" b="1" dirty="0">
              <a:solidFill>
                <a:schemeClr val="bg1"/>
              </a:solidFill>
            </a:endParaRPr>
          </a:p>
          <a:p>
            <a:r>
              <a:rPr lang="es-419" sz="3600" b="1" dirty="0">
                <a:solidFill>
                  <a:schemeClr val="bg1"/>
                </a:solidFill>
              </a:rPr>
              <a:t>With a </a:t>
            </a:r>
            <a:r>
              <a:rPr lang="es-419" sz="3600" b="1" dirty="0" err="1">
                <a:solidFill>
                  <a:schemeClr val="bg1"/>
                </a:solidFill>
              </a:rPr>
              <a:t>clear</a:t>
            </a:r>
            <a:r>
              <a:rPr lang="es-419" sz="3600" b="1" dirty="0">
                <a:solidFill>
                  <a:schemeClr val="bg1"/>
                </a:solidFill>
              </a:rPr>
              <a:t> </a:t>
            </a:r>
            <a:r>
              <a:rPr lang="es-419" sz="3600" b="1" dirty="0" err="1">
                <a:solidFill>
                  <a:schemeClr val="bg1"/>
                </a:solidFill>
              </a:rPr>
              <a:t>marker</a:t>
            </a:r>
            <a:r>
              <a:rPr lang="es-419" sz="3600" b="1" dirty="0">
                <a:solidFill>
                  <a:schemeClr val="bg1"/>
                </a:solidFill>
              </a:rPr>
              <a:t> </a:t>
            </a:r>
            <a:r>
              <a:rPr lang="es-419" sz="3600" b="1" dirty="0" err="1">
                <a:solidFill>
                  <a:schemeClr val="bg1"/>
                </a:solidFill>
              </a:rPr>
              <a:t>to</a:t>
            </a:r>
            <a:r>
              <a:rPr lang="es-419" sz="3600" b="1" dirty="0">
                <a:solidFill>
                  <a:schemeClr val="bg1"/>
                </a:solidFill>
              </a:rPr>
              <a:t> </a:t>
            </a:r>
            <a:r>
              <a:rPr lang="es-419" sz="3600" b="1" dirty="0" err="1">
                <a:solidFill>
                  <a:schemeClr val="bg1"/>
                </a:solidFill>
              </a:rPr>
              <a:t>identify</a:t>
            </a:r>
            <a:endParaRPr lang="es-ES" sz="3600" b="1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426747F-5B4F-15AC-41C0-2CF63F879149}"/>
              </a:ext>
            </a:extLst>
          </p:cNvPr>
          <p:cNvSpPr txBox="1">
            <a:spLocks/>
          </p:cNvSpPr>
          <p:nvPr/>
        </p:nvSpPr>
        <p:spPr>
          <a:xfrm>
            <a:off x="1036320" y="485871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 err="1">
                <a:solidFill>
                  <a:schemeClr val="bg1"/>
                </a:solidFill>
              </a:rPr>
              <a:t>What</a:t>
            </a:r>
            <a:r>
              <a:rPr lang="es-419" dirty="0">
                <a:solidFill>
                  <a:schemeClr val="bg1"/>
                </a:solidFill>
              </a:rPr>
              <a:t> </a:t>
            </a:r>
            <a:r>
              <a:rPr lang="es-419" dirty="0" err="1">
                <a:solidFill>
                  <a:schemeClr val="bg1"/>
                </a:solidFill>
              </a:rPr>
              <a:t>to</a:t>
            </a:r>
            <a:r>
              <a:rPr lang="es-419" dirty="0">
                <a:solidFill>
                  <a:schemeClr val="bg1"/>
                </a:solidFill>
              </a:rPr>
              <a:t> </a:t>
            </a:r>
            <a:r>
              <a:rPr lang="es-419" dirty="0" err="1">
                <a:solidFill>
                  <a:schemeClr val="bg1"/>
                </a:solidFill>
              </a:rPr>
              <a:t>manipulate</a:t>
            </a:r>
            <a:r>
              <a:rPr lang="es-419" dirty="0">
                <a:solidFill>
                  <a:schemeClr val="bg1"/>
                </a:solidFill>
              </a:rPr>
              <a:t>?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D03A71-36F3-D2FE-A7AB-C349A02D902F}"/>
              </a:ext>
            </a:extLst>
          </p:cNvPr>
          <p:cNvSpPr/>
          <p:nvPr/>
        </p:nvSpPr>
        <p:spPr>
          <a:xfrm>
            <a:off x="9801069" y="4409960"/>
            <a:ext cx="1861279" cy="18181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492BE8A-93DF-5263-7C6F-46C787E02FD8}"/>
              </a:ext>
            </a:extLst>
          </p:cNvPr>
          <p:cNvSpPr/>
          <p:nvPr/>
        </p:nvSpPr>
        <p:spPr>
          <a:xfrm>
            <a:off x="8366627" y="5569439"/>
            <a:ext cx="602101" cy="6586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CA33A2-0E4F-8D72-21DC-682224D692DB}"/>
              </a:ext>
            </a:extLst>
          </p:cNvPr>
          <p:cNvSpPr/>
          <p:nvPr/>
        </p:nvSpPr>
        <p:spPr>
          <a:xfrm>
            <a:off x="11060247" y="2955315"/>
            <a:ext cx="602101" cy="6586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C1CBB21-D5DA-7AFF-8751-FC5625D28457}"/>
              </a:ext>
            </a:extLst>
          </p:cNvPr>
          <p:cNvCxnSpPr/>
          <p:nvPr/>
        </p:nvCxnSpPr>
        <p:spPr>
          <a:xfrm flipH="1">
            <a:off x="8283384" y="2860993"/>
            <a:ext cx="2676525" cy="26098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E9D6694-FE50-9B69-BF4F-E4E2675F9220}"/>
              </a:ext>
            </a:extLst>
          </p:cNvPr>
          <p:cNvCxnSpPr>
            <a:cxnSpLocks/>
          </p:cNvCxnSpPr>
          <p:nvPr/>
        </p:nvCxnSpPr>
        <p:spPr>
          <a:xfrm>
            <a:off x="8067675" y="5247839"/>
            <a:ext cx="901053" cy="9802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C279601-42A7-3777-80CC-D6468C7D1CE1}"/>
              </a:ext>
            </a:extLst>
          </p:cNvPr>
          <p:cNvCxnSpPr>
            <a:cxnSpLocks/>
          </p:cNvCxnSpPr>
          <p:nvPr/>
        </p:nvCxnSpPr>
        <p:spPr>
          <a:xfrm>
            <a:off x="10715269" y="2595184"/>
            <a:ext cx="947079" cy="1018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CC50147-5D74-0154-146F-F855E3F2D2A6}"/>
              </a:ext>
            </a:extLst>
          </p:cNvPr>
          <p:cNvCxnSpPr>
            <a:cxnSpLocks/>
          </p:cNvCxnSpPr>
          <p:nvPr/>
        </p:nvCxnSpPr>
        <p:spPr>
          <a:xfrm flipV="1">
            <a:off x="9621646" y="2860993"/>
            <a:ext cx="1338263" cy="1304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82E02A0-B675-4A2E-CE59-96A6D900D640}"/>
              </a:ext>
            </a:extLst>
          </p:cNvPr>
          <p:cNvCxnSpPr/>
          <p:nvPr/>
        </p:nvCxnSpPr>
        <p:spPr>
          <a:xfrm flipH="1">
            <a:off x="8283384" y="4165918"/>
            <a:ext cx="1338262" cy="1304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3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8323165-2705-C70E-10BD-8CA7363FC107}"/>
              </a:ext>
            </a:extLst>
          </p:cNvPr>
          <p:cNvSpPr/>
          <p:nvPr/>
        </p:nvSpPr>
        <p:spPr>
          <a:xfrm>
            <a:off x="-20050" y="-266076"/>
            <a:ext cx="12681679" cy="7390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33FA32-D6EC-7594-8A24-04EFDD9C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24746"/>
            <a:ext cx="11155680" cy="1463040"/>
          </a:xfrm>
        </p:spPr>
        <p:txBody>
          <a:bodyPr/>
          <a:lstStyle/>
          <a:p>
            <a:r>
              <a:rPr lang="es-419" dirty="0"/>
              <a:t>Basic RRR-Planar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5DD7D52-B780-37E2-8ED2-03618334C5A4}"/>
              </a:ext>
            </a:extLst>
          </p:cNvPr>
          <p:cNvSpPr/>
          <p:nvPr/>
        </p:nvSpPr>
        <p:spPr>
          <a:xfrm>
            <a:off x="5998169" y="928120"/>
            <a:ext cx="6171089" cy="56753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686612-674A-E61B-B7F5-2BCEAE56CA94}"/>
              </a:ext>
            </a:extLst>
          </p:cNvPr>
          <p:cNvSpPr/>
          <p:nvPr/>
        </p:nvSpPr>
        <p:spPr>
          <a:xfrm>
            <a:off x="6096000" y="777739"/>
            <a:ext cx="6171089" cy="5675374"/>
          </a:xfrm>
          <a:prstGeom prst="rect">
            <a:avLst/>
          </a:prstGeom>
          <a:solidFill>
            <a:srgbClr val="EFC5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007978-499F-0AC6-8700-B43372672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77" y="1098744"/>
            <a:ext cx="5434648" cy="49936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B3EE085-623A-D9A5-3B2E-9190290C2782}"/>
                  </a:ext>
                </a:extLst>
              </p:cNvPr>
              <p:cNvSpPr txBox="1"/>
              <p:nvPr/>
            </p:nvSpPr>
            <p:spPr>
              <a:xfrm>
                <a:off x="415172" y="1349718"/>
                <a:ext cx="5361256" cy="5621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sz="2800" b="1" i="1" smtClean="0"/>
                          </m:ctrlPr>
                        </m:funcPr>
                        <m:fName>
                          <m:r>
                            <a:rPr lang="en-US" sz="2800" b="1" i="1"/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es-ES" sz="2800" b="1" i="1"/>
                              </m:ctrlPr>
                            </m:dPr>
                            <m:e>
                              <m:r>
                                <a:rPr lang="en-US" sz="2800" b="1" i="1"/>
                                <m:t>𝝋</m:t>
                              </m:r>
                            </m:e>
                          </m:d>
                        </m:e>
                      </m:func>
                      <m:r>
                        <a:rPr lang="en-US" sz="2800" b="1" i="1"/>
                        <m:t>= </m:t>
                      </m:r>
                      <m:f>
                        <m:fPr>
                          <m:ctrlPr>
                            <a:rPr lang="es-ES" sz="2800" b="1" i="1"/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/>
                              </m:ctrlPr>
                            </m:sSupPr>
                            <m:e>
                              <m:r>
                                <a:rPr lang="en-US" sz="2800" b="1" i="1"/>
                                <m:t>𝑿</m:t>
                              </m:r>
                            </m:e>
                            <m:sup>
                              <m:r>
                                <a:rPr lang="en-US" sz="2800" b="1" i="1"/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sz="2800" b="1" i="1"/>
                              </m:ctrlPr>
                            </m:sSupPr>
                            <m:e>
                              <m:r>
                                <a:rPr lang="en-US" sz="2800" b="1" i="1"/>
                                <m:t>+</m:t>
                              </m:r>
                              <m:r>
                                <a:rPr lang="es-419" sz="2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1" i="1"/>
                                <m:t>𝒀</m:t>
                              </m:r>
                              <m:r>
                                <a:rPr lang="es-419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419" sz="2800" b="1" i="1" smtClean="0">
                                  <a:highlight>
                                    <a:srgbClr val="EBBDAD"/>
                                  </a:highlight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s-419" sz="28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1" i="1"/>
                                <m:t>𝟐</m:t>
                              </m:r>
                            </m:sup>
                          </m:sSup>
                          <m:r>
                            <a:rPr lang="en-US" sz="2800" b="1" i="1"/>
                            <m:t>− </m:t>
                          </m:r>
                          <m:sSup>
                            <m:sSupPr>
                              <m:ctrlPr>
                                <a:rPr lang="es-ES" sz="2800" b="1" i="1"/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ES" sz="2800" b="1" i="1"/>
                                  </m:ctrlPr>
                                </m:sSubPr>
                                <m:e>
                                  <m:r>
                                    <a:rPr lang="en-US" sz="2800" b="1" i="1"/>
                                    <m:t>𝑳</m:t>
                                  </m:r>
                                </m:e>
                                <m:sub>
                                  <m:r>
                                    <a:rPr lang="en-US" sz="2800" b="1" i="1"/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 b="1" i="1"/>
                                <m:t>𝟐</m:t>
                              </m:r>
                            </m:sup>
                          </m:sSup>
                          <m:r>
                            <a:rPr lang="en-US" sz="2800" b="1" i="1"/>
                            <m:t>−</m:t>
                          </m:r>
                          <m:sSup>
                            <m:sSupPr>
                              <m:ctrlPr>
                                <a:rPr lang="es-ES" sz="2800" b="1" i="1"/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ES" sz="2800" b="1" i="1"/>
                                  </m:ctrlPr>
                                </m:sSubPr>
                                <m:e>
                                  <m:r>
                                    <a:rPr lang="en-US" sz="2800" b="1" i="1"/>
                                    <m:t>𝑳</m:t>
                                  </m:r>
                                </m:e>
                                <m:sub>
                                  <m:r>
                                    <a:rPr lang="en-US" sz="2800" b="1" i="1"/>
                                    <m:t>𝟐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 b="1" i="1"/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2800" b="1" i="1"/>
                            <m:t>𝟐</m:t>
                          </m:r>
                          <m:sSub>
                            <m:sSubPr>
                              <m:ctrlPr>
                                <a:rPr lang="es-ES" sz="2800" b="1" i="1"/>
                              </m:ctrlPr>
                            </m:sSubPr>
                            <m:e>
                              <m:r>
                                <a:rPr lang="en-US" sz="2800" b="1" i="1"/>
                                <m:t>𝑳</m:t>
                              </m:r>
                            </m:e>
                            <m:sub>
                              <m:r>
                                <a:rPr lang="en-US" sz="2800" b="1" i="1"/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800" b="1" i="1"/>
                              </m:ctrlPr>
                            </m:sSubPr>
                            <m:e>
                              <m:r>
                                <a:rPr lang="en-US" sz="2800" b="1" i="1"/>
                                <m:t>𝑳</m:t>
                              </m:r>
                            </m:e>
                            <m:sub>
                              <m:r>
                                <a:rPr lang="en-US" sz="2800" b="1" i="1"/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2800" b="1" dirty="0"/>
              </a:p>
              <a:p>
                <a:endParaRPr lang="es-ES" sz="28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i="1"/>
                            <m:t>𝜃</m:t>
                          </m:r>
                        </m:e>
                        <m:sub>
                          <m:r>
                            <a:rPr lang="en-US" sz="2800" i="1"/>
                            <m:t>2</m:t>
                          </m:r>
                        </m:sub>
                      </m:sSub>
                      <m:r>
                        <a:rPr lang="en-US" sz="2800" i="1"/>
                        <m:t>=</m:t>
                      </m:r>
                      <m:r>
                        <a:rPr lang="en-US" sz="2800" i="1">
                          <a:highlight>
                            <a:srgbClr val="EBBDAD"/>
                          </a:highlight>
                        </a:rPr>
                        <m:t>180</m:t>
                      </m:r>
                      <m:r>
                        <a:rPr lang="en-US" sz="2800" i="1"/>
                        <m:t>±</m:t>
                      </m:r>
                      <m:r>
                        <m:rPr>
                          <m:sty m:val="p"/>
                        </m:rPr>
                        <a:rPr lang="en-US" sz="2800"/>
                        <m:t>acos</m:t>
                      </m:r>
                      <m:r>
                        <a:rPr lang="en-US" sz="2800" i="1"/>
                        <m:t>(</m:t>
                      </m:r>
                      <m:r>
                        <a:rPr lang="en-US" sz="2800" i="1"/>
                        <m:t>𝜑</m:t>
                      </m:r>
                      <m:r>
                        <a:rPr lang="en-US" sz="2800" i="1"/>
                        <m:t>)</m:t>
                      </m:r>
                    </m:oMath>
                  </m:oMathPara>
                </a14:m>
                <a:endParaRPr lang="es-ES" sz="2800" dirty="0"/>
              </a:p>
              <a:p>
                <a:endParaRPr lang="es-ES" sz="2800" i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𝜃</m:t>
                          </m:r>
                        </m:e>
                        <m:sub>
                          <m:r>
                            <a:rPr lang="en-US" sz="2800" i="1"/>
                            <m:t>1</m:t>
                          </m:r>
                        </m:sub>
                      </m:sSub>
                      <m:r>
                        <a:rPr lang="en-US" sz="2800" i="1"/>
                        <m:t>=</m:t>
                      </m:r>
                      <m:r>
                        <a:rPr lang="en-US" sz="2800" i="1"/>
                        <m:t>𝑎𝑡𝑎𝑛</m:t>
                      </m:r>
                      <m:r>
                        <a:rPr lang="en-US" sz="2800" i="1"/>
                        <m:t>2</m:t>
                      </m:r>
                      <m:d>
                        <m:dPr>
                          <m:ctrlPr>
                            <a:rPr lang="es-ES" sz="2800" i="1"/>
                          </m:ctrlPr>
                        </m:dPr>
                        <m:e>
                          <m:r>
                            <a:rPr lang="en-US" sz="2800" i="1"/>
                            <m:t>𝑌</m:t>
                          </m:r>
                          <m:r>
                            <a:rPr lang="en-US" sz="2800" i="1"/>
                            <m:t>, </m:t>
                          </m:r>
                          <m:r>
                            <a:rPr lang="en-US" sz="2800" i="1"/>
                            <m:t>𝑋</m:t>
                          </m:r>
                        </m:e>
                      </m:d>
                      <m:r>
                        <a:rPr lang="en-US" sz="2800" i="1"/>
                        <m:t>−</m:t>
                      </m:r>
                      <m:r>
                        <a:rPr lang="en-US" sz="2800" i="1"/>
                        <m:t>𝑎𝑡𝑎𝑛</m:t>
                      </m:r>
                      <m:r>
                        <a:rPr lang="en-US" sz="2800" i="1"/>
                        <m:t>2(</m:t>
                      </m:r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𝐿</m:t>
                          </m:r>
                        </m:e>
                        <m:sub>
                          <m:r>
                            <a:rPr lang="en-US" sz="2800" i="1"/>
                            <m:t>2</m:t>
                          </m:r>
                        </m:sub>
                      </m:sSub>
                      <m:r>
                        <a:rPr lang="en-US" sz="2800" i="1"/>
                        <m:t>𝑠𝑖𝑛</m:t>
                      </m:r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𝜃</m:t>
                          </m:r>
                        </m:e>
                        <m:sub>
                          <m:r>
                            <a:rPr lang="en-US" sz="2800" i="1"/>
                            <m:t>2</m:t>
                          </m:r>
                        </m:sub>
                      </m:sSub>
                      <m:r>
                        <a:rPr lang="en-US" sz="2800" i="1"/>
                        <m:t>, </m:t>
                      </m:r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𝐿</m:t>
                          </m:r>
                        </m:e>
                        <m:sub>
                          <m:r>
                            <a:rPr lang="en-US" sz="2800" i="1"/>
                            <m:t>2</m:t>
                          </m:r>
                        </m:sub>
                      </m:sSub>
                      <m:r>
                        <a:rPr lang="en-US" sz="2800" i="1"/>
                        <m:t>𝑐𝑜𝑠</m:t>
                      </m:r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𝜃</m:t>
                          </m:r>
                        </m:e>
                        <m:sub>
                          <m:r>
                            <a:rPr lang="en-US" sz="2800" i="1"/>
                            <m:t>2</m:t>
                          </m:r>
                        </m:sub>
                      </m:sSub>
                      <m:r>
                        <a:rPr lang="en-US" sz="2800" i="1"/>
                        <m:t>+</m:t>
                      </m:r>
                      <m:sSub>
                        <m:sSubPr>
                          <m:ctrlPr>
                            <a:rPr lang="es-ES" sz="2800" i="1"/>
                          </m:ctrlPr>
                        </m:sSubPr>
                        <m:e>
                          <m:r>
                            <a:rPr lang="en-US" sz="2800" i="1"/>
                            <m:t>𝐿</m:t>
                          </m:r>
                        </m:e>
                        <m:sub>
                          <m:r>
                            <a:rPr lang="en-US" sz="2800" i="1"/>
                            <m:t>1</m:t>
                          </m:r>
                        </m:sub>
                      </m:sSub>
                      <m:r>
                        <a:rPr lang="en-US" sz="2800" i="1"/>
                        <m:t>)</m:t>
                      </m:r>
                    </m:oMath>
                  </m:oMathPara>
                </a14:m>
                <a:endParaRPr lang="es-ES" sz="2800" dirty="0"/>
              </a:p>
              <a:p>
                <a:endParaRPr lang="es-ES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sub>
                      </m:sSub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sz="28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800" b="0" i="1" smtClean="0">
                          <a:highlight>
                            <a:srgbClr val="EBBDAD"/>
                          </a:highlight>
                          <a:latin typeface="Cambria Math" panose="02040503050406030204" pitchFamily="18" charset="0"/>
                        </a:rPr>
                        <m:t>=−90</m:t>
                      </m:r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sz="2800" b="1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B3EE085-623A-D9A5-3B2E-9190290C2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2" y="1349718"/>
                <a:ext cx="5361256" cy="5621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17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C4A49-9E17-F7A1-0526-7B4FC3E0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22B9C-F9DD-8A83-369F-DE3CBF234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90093C-F46C-B14D-7D0B-5B7A4BEB29D4}"/>
              </a:ext>
            </a:extLst>
          </p:cNvPr>
          <p:cNvSpPr/>
          <p:nvPr/>
        </p:nvSpPr>
        <p:spPr>
          <a:xfrm>
            <a:off x="-197850" y="-203022"/>
            <a:ext cx="12681679" cy="7390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DC4DAB-B09F-D80B-9DE0-4D9AE3254514}"/>
              </a:ext>
            </a:extLst>
          </p:cNvPr>
          <p:cNvSpPr/>
          <p:nvPr/>
        </p:nvSpPr>
        <p:spPr>
          <a:xfrm>
            <a:off x="5459784" y="978408"/>
            <a:ext cx="5724163" cy="557229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50FE3F-C1D0-EA15-ABF0-1C251786B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"/>
          <a:stretch>
            <a:fillRect/>
          </a:stretch>
        </p:blipFill>
        <p:spPr>
          <a:xfrm>
            <a:off x="5706255" y="638174"/>
            <a:ext cx="5724162" cy="570776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07AA93F-D932-F808-2542-22369DD54DF8}"/>
              </a:ext>
            </a:extLst>
          </p:cNvPr>
          <p:cNvSpPr txBox="1"/>
          <p:nvPr/>
        </p:nvSpPr>
        <p:spPr>
          <a:xfrm>
            <a:off x="515112" y="479445"/>
            <a:ext cx="7314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>
                <a:solidFill>
                  <a:schemeClr val="bg1">
                    <a:lumMod val="65000"/>
                  </a:schemeClr>
                </a:solidFill>
              </a:rPr>
              <a:t>Shifting Angles and </a:t>
            </a:r>
            <a:r>
              <a:rPr lang="es-419" sz="4000" b="1" dirty="0" err="1">
                <a:solidFill>
                  <a:schemeClr val="bg1">
                    <a:lumMod val="65000"/>
                  </a:schemeClr>
                </a:solidFill>
              </a:rPr>
              <a:t>Controlling</a:t>
            </a:r>
            <a:r>
              <a:rPr lang="es-419" sz="40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419" sz="4000" b="1" dirty="0" err="1">
                <a:solidFill>
                  <a:schemeClr val="bg1">
                    <a:lumMod val="65000"/>
                  </a:schemeClr>
                </a:solidFill>
              </a:rPr>
              <a:t>Velocity</a:t>
            </a:r>
            <a:endParaRPr lang="es-ES" sz="4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E725E19-9B9D-18EB-ACAB-5F2CB5D492B1}"/>
              </a:ext>
            </a:extLst>
          </p:cNvPr>
          <p:cNvSpPr txBox="1"/>
          <p:nvPr/>
        </p:nvSpPr>
        <p:spPr>
          <a:xfrm>
            <a:off x="541836" y="479444"/>
            <a:ext cx="7314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</a:t>
            </a:r>
            <a:r>
              <a:rPr lang="es-419" sz="4000" b="1" dirty="0"/>
              <a:t>hifting </a:t>
            </a:r>
            <a:r>
              <a:rPr lang="es-419" sz="4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</a:t>
            </a:r>
            <a:r>
              <a:rPr lang="es-419" sz="4000" b="1" dirty="0"/>
              <a:t>ngles and </a:t>
            </a:r>
            <a:r>
              <a:rPr lang="es-419" sz="40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</a:t>
            </a:r>
            <a:r>
              <a:rPr lang="es-419" sz="4000" b="1" dirty="0" err="1"/>
              <a:t>ontrolling</a:t>
            </a:r>
            <a:r>
              <a:rPr lang="es-419" sz="4000" b="1" dirty="0"/>
              <a:t> </a:t>
            </a:r>
            <a:r>
              <a:rPr lang="es-419" sz="40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r>
              <a:rPr lang="es-419" sz="4000" b="1" dirty="0" err="1"/>
              <a:t>elocity</a:t>
            </a:r>
            <a:endParaRPr lang="es-ES" sz="4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1AD3DE-CD62-6A46-8368-81662187C12D}"/>
              </a:ext>
            </a:extLst>
          </p:cNvPr>
          <p:cNvSpPr txBox="1"/>
          <p:nvPr/>
        </p:nvSpPr>
        <p:spPr>
          <a:xfrm>
            <a:off x="570411" y="2255009"/>
            <a:ext cx="42989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 err="1"/>
              <a:t>Rotation</a:t>
            </a:r>
            <a:r>
              <a:rPr lang="es-419" sz="3200" b="1" dirty="0"/>
              <a:t> </a:t>
            </a:r>
            <a:r>
              <a:rPr lang="es-419" sz="3200" b="1" dirty="0" err="1"/>
              <a:t>Direction</a:t>
            </a:r>
            <a:r>
              <a:rPr lang="es-419" sz="3200" b="1" dirty="0"/>
              <a:t> </a:t>
            </a:r>
            <a:r>
              <a:rPr lang="es-419" sz="3200" b="1" dirty="0" err="1"/>
              <a:t>must</a:t>
            </a:r>
            <a:r>
              <a:rPr lang="es-419" sz="3200" b="1" dirty="0"/>
              <a:t> be </a:t>
            </a:r>
            <a:r>
              <a:rPr lang="es-419" sz="3200" b="1" dirty="0" err="1"/>
              <a:t>compensated</a:t>
            </a:r>
            <a:r>
              <a:rPr lang="es-419" sz="3200" b="1" dirty="0"/>
              <a:t>.</a:t>
            </a:r>
          </a:p>
          <a:p>
            <a:r>
              <a:rPr lang="es-419" sz="3200" b="1" dirty="0"/>
              <a:t>Relative </a:t>
            </a:r>
            <a:r>
              <a:rPr lang="es-419" sz="3200" b="1" dirty="0" err="1"/>
              <a:t>zero</a:t>
            </a:r>
            <a:r>
              <a:rPr lang="es-419" sz="3200" b="1" dirty="0"/>
              <a:t> </a:t>
            </a:r>
            <a:r>
              <a:rPr lang="es-419" sz="3200" b="1" dirty="0" err="1"/>
              <a:t>is</a:t>
            </a:r>
            <a:r>
              <a:rPr lang="es-419" sz="3200" b="1" dirty="0"/>
              <a:t> </a:t>
            </a:r>
            <a:r>
              <a:rPr lang="es-419" sz="3200" b="1" dirty="0" err="1"/>
              <a:t>different</a:t>
            </a:r>
            <a:r>
              <a:rPr lang="es-419" sz="3200" b="1" dirty="0"/>
              <a:t> in </a:t>
            </a:r>
            <a:r>
              <a:rPr lang="es-419" sz="3200" b="1" dirty="0" err="1"/>
              <a:t>every</a:t>
            </a:r>
            <a:r>
              <a:rPr lang="es-419" sz="3200" b="1" dirty="0"/>
              <a:t> motor</a:t>
            </a:r>
          </a:p>
          <a:p>
            <a:endParaRPr lang="es-419" sz="3200" b="1" dirty="0"/>
          </a:p>
          <a:p>
            <a:r>
              <a:rPr lang="es-419" sz="3200" b="1" dirty="0" err="1"/>
              <a:t>Velocity</a:t>
            </a:r>
            <a:r>
              <a:rPr lang="es-419" sz="3200" b="1" dirty="0"/>
              <a:t> </a:t>
            </a:r>
            <a:r>
              <a:rPr lang="es-419" sz="3200" b="1" dirty="0" err="1"/>
              <a:t>does</a:t>
            </a:r>
            <a:r>
              <a:rPr lang="es-419" sz="3200" b="1" dirty="0"/>
              <a:t> </a:t>
            </a:r>
            <a:r>
              <a:rPr lang="es-419" sz="3200" b="1" dirty="0" err="1"/>
              <a:t>not</a:t>
            </a:r>
            <a:r>
              <a:rPr lang="es-419" sz="3200" b="1" dirty="0"/>
              <a:t> </a:t>
            </a:r>
            <a:r>
              <a:rPr lang="es-419" sz="3200" b="1" dirty="0" err="1"/>
              <a:t>have</a:t>
            </a:r>
            <a:r>
              <a:rPr lang="es-419" sz="3200" b="1" dirty="0"/>
              <a:t> </a:t>
            </a:r>
            <a:r>
              <a:rPr lang="es-419" sz="3200" b="1" dirty="0" err="1"/>
              <a:t>feedback</a:t>
            </a:r>
            <a:endParaRPr lang="es-419" sz="3200" b="1" dirty="0"/>
          </a:p>
        </p:txBody>
      </p:sp>
    </p:spTree>
    <p:extLst>
      <p:ext uri="{BB962C8B-B14F-4D97-AF65-F5344CB8AC3E}">
        <p14:creationId xmlns:p14="http://schemas.microsoft.com/office/powerpoint/2010/main" val="4209158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EAF0D-94B7-BD2D-B9AF-BF6D33C3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39B21FBA-1CCE-D754-6E33-CE0D0C06C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488" y="2584982"/>
            <a:ext cx="3753374" cy="375337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AB5864D-56FD-83FB-440E-777C71068732}"/>
              </a:ext>
            </a:extLst>
          </p:cNvPr>
          <p:cNvSpPr/>
          <p:nvPr/>
        </p:nvSpPr>
        <p:spPr>
          <a:xfrm>
            <a:off x="-124982" y="-266076"/>
            <a:ext cx="12681679" cy="7390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0EC1BF-F80D-C80B-B665-29D23BD9D792}"/>
              </a:ext>
            </a:extLst>
          </p:cNvPr>
          <p:cNvSpPr txBox="1"/>
          <p:nvPr/>
        </p:nvSpPr>
        <p:spPr>
          <a:xfrm>
            <a:off x="779970" y="519644"/>
            <a:ext cx="91589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 err="1"/>
              <a:t>Which</a:t>
            </a:r>
            <a:r>
              <a:rPr lang="es-419" sz="4000" b="1" dirty="0"/>
              <a:t> </a:t>
            </a:r>
            <a:r>
              <a:rPr lang="es-419" sz="4000" b="1" dirty="0" err="1"/>
              <a:t>Components</a:t>
            </a:r>
            <a:r>
              <a:rPr lang="es-419" sz="4000" b="1" dirty="0"/>
              <a:t>?</a:t>
            </a:r>
          </a:p>
          <a:p>
            <a:endParaRPr lang="es-419" sz="4000" b="1" dirty="0"/>
          </a:p>
          <a:p>
            <a:r>
              <a:rPr lang="es-419" sz="4000" b="1" dirty="0"/>
              <a:t>1- Micro-Servos</a:t>
            </a:r>
          </a:p>
          <a:p>
            <a:r>
              <a:rPr lang="es-419" sz="4000" b="1" dirty="0"/>
              <a:t>2- </a:t>
            </a:r>
            <a:r>
              <a:rPr lang="es-419" sz="4000" b="1" dirty="0" err="1"/>
              <a:t>Mechanical</a:t>
            </a:r>
            <a:r>
              <a:rPr lang="es-419" sz="4000" b="1" dirty="0"/>
              <a:t> </a:t>
            </a:r>
          </a:p>
          <a:p>
            <a:r>
              <a:rPr lang="es-419" sz="4000" b="1" dirty="0"/>
              <a:t>	</a:t>
            </a:r>
            <a:r>
              <a:rPr lang="es-419" sz="4000" b="1" dirty="0" err="1"/>
              <a:t>Strucure</a:t>
            </a:r>
            <a:endParaRPr lang="es-419" sz="4000" b="1" dirty="0"/>
          </a:p>
          <a:p>
            <a:r>
              <a:rPr lang="es-419" sz="4000" b="1" dirty="0"/>
              <a:t>3- </a:t>
            </a:r>
            <a:r>
              <a:rPr lang="es-419" sz="4000" b="1" dirty="0" err="1"/>
              <a:t>Controllers</a:t>
            </a:r>
            <a:endParaRPr lang="es-419" sz="4000" b="1" dirty="0"/>
          </a:p>
          <a:p>
            <a:r>
              <a:rPr lang="es-419" sz="4000" b="1" dirty="0"/>
              <a:t>4- Camera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5ED59DE-668F-C09E-0D6F-9E9EE63CA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253" y="2441447"/>
            <a:ext cx="2781190" cy="1520595"/>
          </a:xfrm>
          <a:prstGeom prst="rect">
            <a:avLst/>
          </a:prstGeom>
          <a:ln w="127000" cap="sq">
            <a:solidFill>
              <a:schemeClr val="accent6">
                <a:lumMod val="40000"/>
                <a:lumOff val="6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E9221D-721A-5FCF-62DC-315171A84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106" y="2390396"/>
            <a:ext cx="1933328" cy="1520595"/>
          </a:xfrm>
          <a:prstGeom prst="rect">
            <a:avLst/>
          </a:prstGeom>
          <a:ln w="127000" cap="sq">
            <a:solidFill>
              <a:schemeClr val="accent6">
                <a:lumMod val="40000"/>
                <a:lumOff val="6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5D66504-801A-D2C8-3B48-8258417E0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605" y="4416552"/>
            <a:ext cx="1987826" cy="1463040"/>
          </a:xfrm>
          <a:prstGeom prst="rect">
            <a:avLst/>
          </a:prstGeom>
          <a:ln w="127000" cap="sq">
            <a:solidFill>
              <a:schemeClr val="accent6">
                <a:lumMod val="40000"/>
                <a:lumOff val="6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1CF6E42-90BD-81B6-645C-E7C0C2753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574" y="519644"/>
            <a:ext cx="1288630" cy="1386566"/>
          </a:xfrm>
          <a:prstGeom prst="rect">
            <a:avLst/>
          </a:prstGeom>
          <a:ln w="127000" cap="sq">
            <a:solidFill>
              <a:schemeClr val="accent6">
                <a:lumMod val="40000"/>
                <a:lumOff val="6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082A5C3-A8A5-579D-A077-FD245AA8F0AC}"/>
              </a:ext>
            </a:extLst>
          </p:cNvPr>
          <p:cNvCxnSpPr>
            <a:endCxn id="14" idx="0"/>
          </p:cNvCxnSpPr>
          <p:nvPr/>
        </p:nvCxnSpPr>
        <p:spPr>
          <a:xfrm>
            <a:off x="7157770" y="1212927"/>
            <a:ext cx="0" cy="117746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E5CC673-2F0C-47F2-C008-C57914EA087A}"/>
              </a:ext>
            </a:extLst>
          </p:cNvPr>
          <p:cNvCxnSpPr>
            <a:endCxn id="18" idx="1"/>
          </p:cNvCxnSpPr>
          <p:nvPr/>
        </p:nvCxnSpPr>
        <p:spPr>
          <a:xfrm>
            <a:off x="7157770" y="1212927"/>
            <a:ext cx="977804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4FE8AC7-4C91-BD9B-286F-56C51F37FE96}"/>
              </a:ext>
            </a:extLst>
          </p:cNvPr>
          <p:cNvCxnSpPr>
            <a:stCxn id="12" idx="2"/>
          </p:cNvCxnSpPr>
          <p:nvPr/>
        </p:nvCxnSpPr>
        <p:spPr>
          <a:xfrm>
            <a:off x="10833848" y="3962042"/>
            <a:ext cx="0" cy="118603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1365C9D-C5F3-7729-72EF-9461155DF08C}"/>
              </a:ext>
            </a:extLst>
          </p:cNvPr>
          <p:cNvCxnSpPr/>
          <p:nvPr/>
        </p:nvCxnSpPr>
        <p:spPr>
          <a:xfrm flipH="1">
            <a:off x="9938960" y="5148072"/>
            <a:ext cx="89488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50E8C27-6892-AEB1-698F-B13B0A43E24D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124434" y="3125051"/>
            <a:ext cx="1299770" cy="25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66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F59C1-3930-2ADD-34DE-001CF176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A6E4F5-9123-6520-769C-3F8FAFC7368E}"/>
              </a:ext>
            </a:extLst>
          </p:cNvPr>
          <p:cNvSpPr/>
          <p:nvPr/>
        </p:nvSpPr>
        <p:spPr>
          <a:xfrm>
            <a:off x="-101600" y="0"/>
            <a:ext cx="122936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Marcador de contenido 5">
            <a:extLst>
              <a:ext uri="{FF2B5EF4-FFF2-40B4-BE49-F238E27FC236}">
                <a16:creationId xmlns:a16="http://schemas.microsoft.com/office/drawing/2014/main" id="{23677840-4CA0-6A3C-DE2A-9B9F6BD6A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335" y1="46064" x2="45120" y2="44613"/>
                        <a14:foregroundMark x1="58103" y1="57942" x2="68140" y2="72721"/>
                      </a14:backgroundRemoval>
                    </a14:imgEffect>
                    <a14:imgEffect>
                      <a14:artisticGlowEdges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1886" y="-324305"/>
            <a:ext cx="5782210" cy="7547431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C288ADD-4C48-25D0-8D15-9298782B7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335" y1="46064" x2="45120" y2="44613"/>
                        <a14:foregroundMark x1="58103" y1="57942" x2="68140" y2="727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094" y="-233360"/>
            <a:ext cx="5576248" cy="732471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99CB873-C976-5013-1D5E-AEE1FFB7D545}"/>
              </a:ext>
            </a:extLst>
          </p:cNvPr>
          <p:cNvSpPr txBox="1"/>
          <p:nvPr/>
        </p:nvSpPr>
        <p:spPr>
          <a:xfrm>
            <a:off x="4920915" y="613282"/>
            <a:ext cx="6924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000" b="1" dirty="0"/>
              <a:t>Final </a:t>
            </a:r>
            <a:r>
              <a:rPr lang="es-419" sz="4000" b="1" dirty="0" err="1"/>
              <a:t>Structure</a:t>
            </a:r>
            <a:r>
              <a:rPr lang="es-419" sz="4000" b="1" dirty="0"/>
              <a:t> and </a:t>
            </a:r>
            <a:r>
              <a:rPr lang="es-419" sz="4000" b="1" dirty="0" err="1"/>
              <a:t>Results</a:t>
            </a:r>
            <a:endParaRPr lang="es-ES" sz="40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F8F1E7-2C85-3DDD-E9BE-AEA961D547ED}"/>
              </a:ext>
            </a:extLst>
          </p:cNvPr>
          <p:cNvSpPr txBox="1"/>
          <p:nvPr/>
        </p:nvSpPr>
        <p:spPr>
          <a:xfrm>
            <a:off x="3300963" y="3449410"/>
            <a:ext cx="105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Camera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2233B4-7A81-84AE-C1E8-EDC692B36EE9}"/>
              </a:ext>
            </a:extLst>
          </p:cNvPr>
          <p:cNvSpPr txBox="1"/>
          <p:nvPr/>
        </p:nvSpPr>
        <p:spPr>
          <a:xfrm>
            <a:off x="1016000" y="5500914"/>
            <a:ext cx="13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/>
              <a:t>Controllers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3491D8D-F433-2844-883F-22C5F3BC96AB}"/>
              </a:ext>
            </a:extLst>
          </p:cNvPr>
          <p:cNvSpPr txBox="1"/>
          <p:nvPr/>
        </p:nvSpPr>
        <p:spPr>
          <a:xfrm>
            <a:off x="3291517" y="1271707"/>
            <a:ext cx="105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Servos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DFE07D1-60A9-CE36-2F22-8FE203D4635C}"/>
              </a:ext>
            </a:extLst>
          </p:cNvPr>
          <p:cNvSpPr txBox="1"/>
          <p:nvPr/>
        </p:nvSpPr>
        <p:spPr>
          <a:xfrm>
            <a:off x="338046" y="1911796"/>
            <a:ext cx="105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End </a:t>
            </a:r>
            <a:r>
              <a:rPr lang="es-419" dirty="0" err="1"/>
              <a:t>Efferctor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AAE0D9F-6EEF-9F97-A9ED-230FAC895F3D}"/>
              </a:ext>
            </a:extLst>
          </p:cNvPr>
          <p:cNvSpPr txBox="1"/>
          <p:nvPr/>
        </p:nvSpPr>
        <p:spPr>
          <a:xfrm>
            <a:off x="101456" y="3005504"/>
            <a:ext cx="105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Target</a:t>
            </a:r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8CACDFB-E0DF-D402-43DD-73FF164F1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227" y="1709928"/>
            <a:ext cx="5660901" cy="459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3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27DCB-FF57-B2C4-7C53-5BBACDA1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B6D727-E713-863B-BBC0-6F9100F70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2500FC-AB22-EE23-1E13-B2983521277C}"/>
              </a:ext>
            </a:extLst>
          </p:cNvPr>
          <p:cNvSpPr/>
          <p:nvPr/>
        </p:nvSpPr>
        <p:spPr>
          <a:xfrm>
            <a:off x="-101600" y="0"/>
            <a:ext cx="122936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933512-DF8C-7077-4A6B-E0689FB3ABE9}"/>
              </a:ext>
            </a:extLst>
          </p:cNvPr>
          <p:cNvSpPr txBox="1"/>
          <p:nvPr/>
        </p:nvSpPr>
        <p:spPr>
          <a:xfrm>
            <a:off x="1008598" y="665356"/>
            <a:ext cx="1044317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The main issue is low precision due to the handmade structure and inexpensive servos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Position errors are typically around 5–10 mm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Despite this: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Robotic systems can be built with low-cost materials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Key industrial robotics principles can still be applied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This project provides a strong base for future work in: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Robotics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Control systems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AI-based automation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738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C79CD-38CF-9593-CC78-C9FF30F0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1DC95-8821-1B65-90C0-4ED4209A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F170CC-1981-A657-BDEA-D38FA6E11644}"/>
              </a:ext>
            </a:extLst>
          </p:cNvPr>
          <p:cNvSpPr/>
          <p:nvPr/>
        </p:nvSpPr>
        <p:spPr>
          <a:xfrm>
            <a:off x="-101600" y="0"/>
            <a:ext cx="122936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4400" b="1" dirty="0" err="1"/>
              <a:t>Thank</a:t>
            </a:r>
            <a:r>
              <a:rPr lang="es-419" sz="4400" b="1" dirty="0"/>
              <a:t> </a:t>
            </a:r>
            <a:r>
              <a:rPr lang="es-419" sz="4400" b="1" dirty="0" err="1"/>
              <a:t>you</a:t>
            </a:r>
            <a:r>
              <a:rPr lang="es-419" sz="4400" b="1" dirty="0"/>
              <a:t> </a:t>
            </a:r>
            <a:r>
              <a:rPr lang="es-419" sz="4400" b="1" dirty="0" err="1"/>
              <a:t>for</a:t>
            </a:r>
            <a:r>
              <a:rPr lang="es-419" sz="4400" b="1" dirty="0"/>
              <a:t> </a:t>
            </a:r>
            <a:r>
              <a:rPr lang="es-419" sz="4400" b="1" dirty="0" err="1"/>
              <a:t>your</a:t>
            </a:r>
            <a:r>
              <a:rPr lang="es-419" sz="4400" b="1" dirty="0"/>
              <a:t> </a:t>
            </a:r>
            <a:r>
              <a:rPr lang="es-419" sz="4400" b="1" dirty="0" err="1"/>
              <a:t>attention</a:t>
            </a:r>
            <a:r>
              <a:rPr lang="es-419" sz="4400" b="1" dirty="0"/>
              <a:t>.</a:t>
            </a:r>
            <a:endParaRPr lang="es-ES" sz="4400" b="1" dirty="0"/>
          </a:p>
        </p:txBody>
      </p:sp>
    </p:spTree>
    <p:extLst>
      <p:ext uri="{BB962C8B-B14F-4D97-AF65-F5344CB8AC3E}">
        <p14:creationId xmlns:p14="http://schemas.microsoft.com/office/powerpoint/2010/main" val="1839402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323</Words>
  <Application>Microsoft Office PowerPoint</Application>
  <PresentationFormat>Panorámica</PresentationFormat>
  <Paragraphs>67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Bierstadt</vt:lpstr>
      <vt:lpstr>Cambria Math</vt:lpstr>
      <vt:lpstr>GestaltVTI</vt:lpstr>
      <vt:lpstr>Robotic Arm Control  with AI visión  By: Aaron Lazo</vt:lpstr>
      <vt:lpstr>Presentación de PowerPoint</vt:lpstr>
      <vt:lpstr>Presentación de PowerPoint</vt:lpstr>
      <vt:lpstr>Presentación de PowerPoint</vt:lpstr>
      <vt:lpstr>What to manipulate?</vt:lpstr>
      <vt:lpstr>Basic RRR-Planar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AARON MARTINEZ LAZO</dc:creator>
  <cp:lastModifiedBy>KENNETH AARON MARTINEZ LAZO</cp:lastModifiedBy>
  <cp:revision>7</cp:revision>
  <dcterms:created xsi:type="dcterms:W3CDTF">2026-05-04T18:06:58Z</dcterms:created>
  <dcterms:modified xsi:type="dcterms:W3CDTF">2026-05-04T20:05:12Z</dcterms:modified>
</cp:coreProperties>
</file>